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guide outlines a structured approach to Claude model selection. Focus on optimizing performance, cost, and user experience for your application.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Before selection, establish clear criteria aligned to application needs. Focus on capabilities, speed, and cost for a sustainable 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main approaches guide initial model testing. Prioritize either rapid iteration with a cost-effective model, or advanced capabilities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matrix provides a guideline for initial Claude model selection. It aligns desired outcomes with recommended models and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Determine model upgrades through objective evaluation. Create benchmarks, test with real data, and compare performance against associated costs.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Optimal Claude model selection involves deliberate criteria, strategic starting points, and thorough evaluation. Prioritize key factors for application success.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D76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188720"/>
            <a:ext cx="73152" cy="2286000"/>
          </a:xfrm>
          <a:prstGeom prst="rect">
            <a:avLst/>
          </a:prstGeom>
          <a:solidFill>
            <a:srgbClr val="D76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772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C1C1C"/>
                </a:solidFill>
                <a:latin typeface="Georgia"/>
              </a:defRPr>
            </a:pPr>
            <a:r>
              <a:t>Choosing the Right Claude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206240"/>
            <a:ext cx="2743200" cy="36576"/>
          </a:xfrm>
          <a:prstGeom prst="rect">
            <a:avLst/>
          </a:prstGeom>
          <a:solidFill>
            <a:srgbClr val="1E5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76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C1C1C"/>
                </a:solidFill>
                <a:latin typeface="Georgia"/>
              </a:defRPr>
            </a:pPr>
            <a: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371600" cy="27432"/>
          </a:xfrm>
          <a:prstGeom prst="rect">
            <a:avLst/>
          </a:prstGeom>
          <a:solidFill>
            <a:srgbClr val="D76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1000"/>
              </a:spcAft>
              <a:defRPr sz="1800">
                <a:solidFill>
                  <a:srgbClr val="1C1C1C"/>
                </a:solidFill>
                <a:latin typeface="Verdana"/>
              </a:defRPr>
            </a:pPr>
            <a:r>
              <a:t>•  Introduction</a:t>
            </a:r>
          </a:p>
          <a:p>
            <a:pPr>
              <a:lnSpc>
                <a:spcPts val="2400"/>
              </a:lnSpc>
              <a:spcAft>
                <a:spcPts val="1000"/>
              </a:spcAft>
              <a:defRPr sz="1800">
                <a:solidFill>
                  <a:srgbClr val="1C1C1C"/>
                </a:solidFill>
                <a:latin typeface="Verdana"/>
              </a:defRPr>
            </a:pPr>
            <a:r>
              <a:t>•  1. Establish Key Criteria</a:t>
            </a:r>
          </a:p>
          <a:p>
            <a:pPr>
              <a:lnSpc>
                <a:spcPts val="2400"/>
              </a:lnSpc>
              <a:spcAft>
                <a:spcPts val="1000"/>
              </a:spcAft>
              <a:defRPr sz="1800">
                <a:solidFill>
                  <a:srgbClr val="1C1C1C"/>
                </a:solidFill>
                <a:latin typeface="Verdana"/>
              </a:defRPr>
            </a:pPr>
            <a:r>
              <a:t>•  2. Choose Best Model Approach</a:t>
            </a:r>
          </a:p>
          <a:p>
            <a:pPr>
              <a:lnSpc>
                <a:spcPts val="2400"/>
              </a:lnSpc>
              <a:spcAft>
                <a:spcPts val="1000"/>
              </a:spcAft>
              <a:defRPr sz="1800">
                <a:solidFill>
                  <a:srgbClr val="1C1C1C"/>
                </a:solidFill>
                <a:latin typeface="Verdana"/>
              </a:defRPr>
            </a:pPr>
            <a:r>
              <a:t>•  3. Model Selection Matrix</a:t>
            </a:r>
          </a:p>
          <a:p>
            <a:pPr>
              <a:lnSpc>
                <a:spcPts val="2400"/>
              </a:lnSpc>
              <a:spcAft>
                <a:spcPts val="1000"/>
              </a:spcAft>
              <a:defRPr sz="1800">
                <a:solidFill>
                  <a:srgbClr val="1C1C1C"/>
                </a:solidFill>
                <a:latin typeface="Verdana"/>
              </a:defRPr>
            </a:pPr>
            <a:r>
              <a:t>•  4. Decide Model Upgrade or Change</a:t>
            </a:r>
          </a:p>
          <a:p>
            <a:pPr>
              <a:lnSpc>
                <a:spcPts val="2400"/>
              </a:lnSpc>
              <a:spcAft>
                <a:spcPts val="1000"/>
              </a:spcAft>
              <a:defRPr sz="1800">
                <a:solidFill>
                  <a:srgbClr val="1C1C1C"/>
                </a:solidFill>
                <a:latin typeface="Verdana"/>
              </a:defRPr>
            </a:pPr>
            <a:r>
              <a:t>•  5. Key Takeaways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76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C1C1C"/>
                </a:solidFill>
                <a:latin typeface="Georgia"/>
              </a:defRPr>
            </a:pPr>
            <a:r>
              <a:t>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371600" cy="27432"/>
          </a:xfrm>
          <a:prstGeom prst="rect">
            <a:avLst/>
          </a:prstGeom>
          <a:solidFill>
            <a:srgbClr val="D76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1000"/>
              </a:spcAft>
              <a:defRPr sz="1800">
                <a:solidFill>
                  <a:srgbClr val="1C1C1C"/>
                </a:solidFill>
                <a:latin typeface="Verdana"/>
              </a:defRPr>
            </a:pPr>
            <a:r>
              <a:t>•  Optimize application performance, cost, experience.</a:t>
            </a:r>
          </a:p>
          <a:p>
            <a:pPr>
              <a:lnSpc>
                <a:spcPts val="2400"/>
              </a:lnSpc>
              <a:spcAft>
                <a:spcPts val="1000"/>
              </a:spcAft>
              <a:defRPr sz="1800">
                <a:solidFill>
                  <a:srgbClr val="1C1C1C"/>
                </a:solidFill>
                <a:latin typeface="Verdana"/>
              </a:defRPr>
            </a:pPr>
            <a:r>
              <a:t>•  Establish key selection criteria first.</a:t>
            </a:r>
          </a:p>
          <a:p>
            <a:pPr>
              <a:lnSpc>
                <a:spcPts val="2400"/>
              </a:lnSpc>
              <a:spcAft>
                <a:spcPts val="1000"/>
              </a:spcAft>
              <a:defRPr sz="1800">
                <a:solidFill>
                  <a:srgbClr val="1C1C1C"/>
                </a:solidFill>
                <a:latin typeface="Verdana"/>
              </a:defRPr>
            </a:pPr>
            <a:r>
              <a:t>•  Explore strategic starting model options.</a:t>
            </a:r>
          </a:p>
          <a:p>
            <a:pPr>
              <a:lnSpc>
                <a:spcPts val="2400"/>
              </a:lnSpc>
              <a:spcAft>
                <a:spcPts val="1000"/>
              </a:spcAft>
              <a:defRPr sz="1800">
                <a:solidFill>
                  <a:srgbClr val="1C1C1C"/>
                </a:solidFill>
                <a:latin typeface="Verdana"/>
              </a:defRPr>
            </a:pPr>
            <a:r>
              <a:t>•  Evaluate and upgrade based on use case.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76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C1C1C"/>
                </a:solidFill>
                <a:latin typeface="Georgia"/>
              </a:defRPr>
            </a:pPr>
            <a:r>
              <a:t>1. Establish Key Criteria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371600" cy="27432"/>
          </a:xfrm>
          <a:prstGeom prst="rect">
            <a:avLst/>
          </a:prstGeom>
          <a:solidFill>
            <a:srgbClr val="D76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1000"/>
              </a:spcAft>
              <a:defRPr sz="1800">
                <a:solidFill>
                  <a:srgbClr val="1C1C1C"/>
                </a:solidFill>
                <a:latin typeface="Verdana"/>
              </a:defRPr>
            </a:pPr>
            <a:r>
              <a:t>•  Define specific model capabilities needed.</a:t>
            </a:r>
          </a:p>
          <a:p>
            <a:pPr>
              <a:lnSpc>
                <a:spcPts val="2400"/>
              </a:lnSpc>
              <a:spcAft>
                <a:spcPts val="1000"/>
              </a:spcAft>
              <a:defRPr sz="1800">
                <a:solidFill>
                  <a:srgbClr val="1C1C1C"/>
                </a:solidFill>
                <a:latin typeface="Verdana"/>
              </a:defRPr>
            </a:pPr>
            <a:r>
              <a:t>•  Assess required application response speed.</a:t>
            </a:r>
          </a:p>
          <a:p>
            <a:pPr>
              <a:lnSpc>
                <a:spcPts val="2400"/>
              </a:lnSpc>
              <a:spcAft>
                <a:spcPts val="1000"/>
              </a:spcAft>
              <a:defRPr sz="1800">
                <a:solidFill>
                  <a:srgbClr val="1C1C1C"/>
                </a:solidFill>
                <a:latin typeface="Verdana"/>
              </a:defRPr>
            </a:pPr>
            <a:r>
              <a:t>•  Consider budget for development and production.</a:t>
            </a:r>
          </a:p>
          <a:p>
            <a:pPr>
              <a:lnSpc>
                <a:spcPts val="2400"/>
              </a:lnSpc>
              <a:spcAft>
                <a:spcPts val="1000"/>
              </a:spcAft>
              <a:defRPr sz="1800">
                <a:solidFill>
                  <a:srgbClr val="1C1C1C"/>
                </a:solidFill>
                <a:latin typeface="Verdana"/>
              </a:defRPr>
            </a:pPr>
            <a:r>
              <a:t>•  Streamline decision-making process effectively.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76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C1C1C"/>
                </a:solidFill>
                <a:latin typeface="Georgia"/>
              </a:defRPr>
            </a:pPr>
            <a:r>
              <a:t>2. Choose Best Model Approach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371600" cy="27432"/>
          </a:xfrm>
          <a:prstGeom prst="rect">
            <a:avLst/>
          </a:prstGeom>
          <a:solidFill>
            <a:srgbClr val="D76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1000"/>
              </a:spcAft>
              <a:defRPr sz="1800">
                <a:solidFill>
                  <a:srgbClr val="1C1C1C"/>
                </a:solidFill>
                <a:latin typeface="Verdana"/>
              </a:defRPr>
            </a:pPr>
            <a:r>
              <a:t>•  Select primary strategic starting point.</a:t>
            </a:r>
          </a:p>
          <a:p>
            <a:pPr>
              <a:lnSpc>
                <a:spcPts val="2400"/>
              </a:lnSpc>
              <a:spcAft>
                <a:spcPts val="1000"/>
              </a:spcAft>
              <a:defRPr sz="1800">
                <a:solidFill>
                  <a:srgbClr val="1C1C1C"/>
                </a:solidFill>
                <a:latin typeface="Verdana"/>
              </a:defRPr>
            </a:pPr>
            <a:r>
              <a:t>•  Option 1: Start with fast, cost-effective model.</a:t>
            </a:r>
          </a:p>
          <a:p>
            <a:pPr>
              <a:lnSpc>
                <a:spcPts val="2400"/>
              </a:lnSpc>
              <a:spcAft>
                <a:spcPts val="1000"/>
              </a:spcAft>
              <a:defRPr sz="1800">
                <a:solidFill>
                  <a:srgbClr val="1C1C1C"/>
                </a:solidFill>
                <a:latin typeface="Verdana"/>
              </a:defRPr>
            </a:pPr>
            <a:r>
              <a:t>•  Option 2: Begin with most capable model.</a:t>
            </a:r>
          </a:p>
          <a:p>
            <a:pPr>
              <a:lnSpc>
                <a:spcPts val="2400"/>
              </a:lnSpc>
              <a:spcAft>
                <a:spcPts val="1000"/>
              </a:spcAft>
              <a:defRPr sz="1800">
                <a:solidFill>
                  <a:srgbClr val="1C1C1C"/>
                </a:solidFill>
                <a:latin typeface="Verdana"/>
              </a:defRPr>
            </a:pPr>
            <a:r>
              <a:t>•  Optimize from either starting approach.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76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C1C1C"/>
                </a:solidFill>
                <a:latin typeface="Georgia"/>
              </a:defRPr>
            </a:pPr>
            <a:r>
              <a:t>3. Model Selection Matrix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371600" cy="27432"/>
          </a:xfrm>
          <a:prstGeom prst="rect">
            <a:avLst/>
          </a:prstGeom>
          <a:solidFill>
            <a:srgbClr val="D76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1000"/>
              </a:spcAft>
              <a:defRPr sz="1800">
                <a:solidFill>
                  <a:srgbClr val="1C1C1C"/>
                </a:solidFill>
                <a:latin typeface="Verdana"/>
              </a:defRPr>
            </a:pPr>
            <a:r>
              <a:t>•  Utilize matrix for initial selection.</a:t>
            </a:r>
          </a:p>
          <a:p>
            <a:pPr>
              <a:lnSpc>
                <a:spcPts val="2400"/>
              </a:lnSpc>
              <a:spcAft>
                <a:spcPts val="1000"/>
              </a:spcAft>
              <a:defRPr sz="1800">
                <a:solidFill>
                  <a:srgbClr val="1C1C1C"/>
                </a:solidFill>
                <a:latin typeface="Verdana"/>
              </a:defRPr>
            </a:pPr>
            <a:r>
              <a:t>•  Map desired outcomes to models.</a:t>
            </a:r>
          </a:p>
          <a:p>
            <a:pPr>
              <a:lnSpc>
                <a:spcPts val="2400"/>
              </a:lnSpc>
              <a:spcAft>
                <a:spcPts val="1000"/>
              </a:spcAft>
              <a:defRPr sz="1800">
                <a:solidFill>
                  <a:srgbClr val="1C1C1C"/>
                </a:solidFill>
                <a:latin typeface="Verdana"/>
              </a:defRPr>
            </a:pPr>
            <a:r>
              <a:t>•  Review illustrative use case examples.</a:t>
            </a:r>
          </a:p>
          <a:p>
            <a:pPr>
              <a:lnSpc>
                <a:spcPts val="2400"/>
              </a:lnSpc>
              <a:spcAft>
                <a:spcPts val="1000"/>
              </a:spcAft>
              <a:defRPr sz="1800">
                <a:solidFill>
                  <a:srgbClr val="1C1C1C"/>
                </a:solidFill>
                <a:latin typeface="Verdana"/>
              </a:defRPr>
            </a:pPr>
            <a:r>
              <a:t>•  Guide selection based on specific needs.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76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C1C1C"/>
                </a:solidFill>
                <a:latin typeface="Georgia"/>
              </a:defRPr>
            </a:pPr>
            <a:r>
              <a:t>4. Decide Model Upgrade or Change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371600" cy="27432"/>
          </a:xfrm>
          <a:prstGeom prst="rect">
            <a:avLst/>
          </a:prstGeom>
          <a:solidFill>
            <a:srgbClr val="D76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1000"/>
              </a:spcAft>
              <a:defRPr sz="1800">
                <a:solidFill>
                  <a:srgbClr val="1C1C1C"/>
                </a:solidFill>
                <a:latin typeface="Verdana"/>
              </a:defRPr>
            </a:pPr>
            <a:r>
              <a:t>•  Follow structured evaluation process.</a:t>
            </a:r>
          </a:p>
          <a:p>
            <a:pPr>
              <a:lnSpc>
                <a:spcPts val="2400"/>
              </a:lnSpc>
              <a:spcAft>
                <a:spcPts val="1000"/>
              </a:spcAft>
              <a:defRPr sz="1800">
                <a:solidFill>
                  <a:srgbClr val="1C1C1C"/>
                </a:solidFill>
                <a:latin typeface="Verdana"/>
              </a:defRPr>
            </a:pPr>
            <a:r>
              <a:t>•  Create use-case specific benchmark tests.</a:t>
            </a:r>
          </a:p>
          <a:p>
            <a:pPr>
              <a:lnSpc>
                <a:spcPts val="2400"/>
              </a:lnSpc>
              <a:spcAft>
                <a:spcPts val="1000"/>
              </a:spcAft>
              <a:defRPr sz="1800">
                <a:solidFill>
                  <a:srgbClr val="1C1C1C"/>
                </a:solidFill>
                <a:latin typeface="Verdana"/>
              </a:defRPr>
            </a:pPr>
            <a:r>
              <a:t>•  Compare performance: accuracy, quality, edge cases.</a:t>
            </a:r>
          </a:p>
          <a:p>
            <a:pPr>
              <a:lnSpc>
                <a:spcPts val="2400"/>
              </a:lnSpc>
              <a:spcAft>
                <a:spcPts val="1000"/>
              </a:spcAft>
              <a:defRPr sz="1800">
                <a:solidFill>
                  <a:srgbClr val="1C1C1C"/>
                </a:solidFill>
                <a:latin typeface="Verdana"/>
              </a:defRPr>
            </a:pPr>
            <a:r>
              <a:t>•  Weigh performance gains against costs.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76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C1C1C"/>
                </a:solidFill>
                <a:latin typeface="Georgia"/>
              </a:defRPr>
            </a:pPr>
            <a:r>
              <a:t>5. 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371600" cy="27432"/>
          </a:xfrm>
          <a:prstGeom prst="rect">
            <a:avLst/>
          </a:prstGeom>
          <a:solidFill>
            <a:srgbClr val="D76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1000"/>
              </a:spcAft>
              <a:defRPr sz="1800">
                <a:solidFill>
                  <a:srgbClr val="1C1C1C"/>
                </a:solidFill>
                <a:latin typeface="Verdana"/>
              </a:defRPr>
            </a:pPr>
            <a:r>
              <a:t>•  Establish clear selection criteria.</a:t>
            </a:r>
          </a:p>
          <a:p>
            <a:pPr>
              <a:lnSpc>
                <a:spcPts val="2400"/>
              </a:lnSpc>
              <a:spcAft>
                <a:spcPts val="1000"/>
              </a:spcAft>
              <a:defRPr sz="1800">
                <a:solidFill>
                  <a:srgbClr val="1C1C1C"/>
                </a:solidFill>
                <a:latin typeface="Verdana"/>
              </a:defRPr>
            </a:pPr>
            <a:r>
              <a:t>•  Strategically choose a starting model.</a:t>
            </a:r>
          </a:p>
          <a:p>
            <a:pPr>
              <a:lnSpc>
                <a:spcPts val="2400"/>
              </a:lnSpc>
              <a:spcAft>
                <a:spcPts val="1000"/>
              </a:spcAft>
              <a:defRPr sz="1800">
                <a:solidFill>
                  <a:srgbClr val="1C1C1C"/>
                </a:solidFill>
                <a:latin typeface="Verdana"/>
              </a:defRPr>
            </a:pPr>
            <a:r>
              <a:t>•  Conduct thorough model evaluations.</a:t>
            </a:r>
          </a:p>
          <a:p>
            <a:pPr>
              <a:lnSpc>
                <a:spcPts val="2400"/>
              </a:lnSpc>
              <a:spcAft>
                <a:spcPts val="1000"/>
              </a:spcAft>
              <a:defRPr sz="1800">
                <a:solidFill>
                  <a:srgbClr val="1C1C1C"/>
                </a:solidFill>
                <a:latin typeface="Verdana"/>
              </a:defRPr>
            </a:pPr>
            <a:r>
              <a:t>•  Prioritize capabilities, speed, cost.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