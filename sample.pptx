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2"/>
    <p:sldId id="261" r:id="rId13"/>
    <p:sldId id="262" r:id="rId14"/>
    <p:sldId id="263" r:id="rId15"/>
    <p:sldId id="264" r:id="rId16"/>
    <p:sldId id="265" r:id="rId17"/>
    <p:sldId id="266" r:id="rId18"/>
    <p:sldId id="267" r:id="rId19"/>
    <p:sldId id="268" r:id="rId20"/>
    <p:sldId id="269" r:id="rId21"/>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notesMaster" Target="notesMasters/notesMaster1.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Large Language Models have fundamentally shifted how machines process language, powering tools from customer service bots to coding assistants. This presentation explores the underlying engineering, specifically the Transformer architecture and the training lifecycle.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2017 introduction of the Transformer architecture moved the field away from sequential processing to parallelization. By using self-attention, models can now process vast amounts of data efficiently on modern GPUs.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Model intelligence stems from a rigorous pipeline starting with computationally intensive pre-training on massive datasets. Through next-token prediction, the system learns language statistics and reasoning patterns without explicit human labeling.</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Modern LLMs have moved beyond rigid scripts to power flexible applications across industries. From writing code to analyzing scientific data, these tools are fundamentally changing how we interact with software.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future of AI focuses on efficiency, improved reasoning, and multimodal capabilities. Crucially, researchers are working to reduce hallucinations to ensure models provide reliable and factual information.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Modern AI is defined by the Transformer architecture's ability to process data in parallel via attention mechanisms. Success relies on a dual training approach that enables versatility across widely varying tasks.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AF8EE"/>
        </a:solidFill>
        <a:effectLst/>
      </p:bgPr>
    </p:bg>
    <p:spTree>
      <p:nvGrpSpPr>
        <p:cNvPr id="1" name=""/>
        <p:cNvGrpSpPr/>
        <p:nvPr/>
      </p:nvGrpSpPr>
      <p:grpSpPr/>
      <p:sp>
        <p:nvSpPr>
          <p:cNvPr id="2" name="Rectangle 1"/>
          <p:cNvSpPr/>
          <p:nvPr/>
        </p:nvSpPr>
        <p:spPr>
          <a:xfrm>
            <a:off x="0" y="0"/>
            <a:ext cx="9144000" cy="109728"/>
          </a:xfrm>
          <a:prstGeom prst="rect">
            <a:avLst/>
          </a:prstGeom>
          <a:solidFill>
            <a:srgbClr val="E07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65760" y="1188720"/>
            <a:ext cx="73152" cy="2286000"/>
          </a:xfrm>
          <a:prstGeom prst="rect">
            <a:avLst/>
          </a:prstGeom>
          <a:solidFill>
            <a:srgbClr val="E07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097280"/>
            <a:ext cx="7772400" cy="1463040"/>
          </a:xfrm>
          <a:prstGeom prst="rect">
            <a:avLst/>
          </a:prstGeom>
          <a:noFill/>
        </p:spPr>
        <p:txBody>
          <a:bodyPr wrap="square">
            <a:spAutoFit/>
          </a:bodyPr>
          <a:lstStyle/>
          <a:p>
            <a:pPr algn="l">
              <a:defRPr sz="4000" b="1">
                <a:solidFill>
                  <a:srgbClr val="2C2C2C"/>
                </a:solidFill>
                <a:latin typeface="Georgia"/>
              </a:defRPr>
            </a:pPr>
            <a:r>
              <a:t>Understanding Modern LLM Architectures: A Deep Dive</a:t>
            </a:r>
          </a:p>
        </p:txBody>
      </p:sp>
      <p:sp>
        <p:nvSpPr>
          <p:cNvPr id="5" name="TextBox 4"/>
          <p:cNvSpPr txBox="1"/>
          <p:nvPr/>
        </p:nvSpPr>
        <p:spPr>
          <a:xfrm>
            <a:off x="640080" y="3200400"/>
            <a:ext cx="7772400" cy="640080"/>
          </a:xfrm>
          <a:prstGeom prst="rect">
            <a:avLst/>
          </a:prstGeom>
          <a:noFill/>
        </p:spPr>
        <p:txBody>
          <a:bodyPr wrap="square">
            <a:spAutoFit/>
          </a:bodyPr>
          <a:lstStyle/>
          <a:p>
            <a:pPr algn="l">
              <a:defRPr sz="1600">
                <a:solidFill>
                  <a:srgbClr val="6B706B"/>
                </a:solidFill>
                <a:latin typeface="Verdana"/>
              </a:defRPr>
            </a:pPr>
            <a:r>
              <a:t>Document Generator</a:t>
            </a:r>
          </a:p>
        </p:txBody>
      </p:sp>
      <p:sp>
        <p:nvSpPr>
          <p:cNvPr id="6" name="Rectangle 5"/>
          <p:cNvSpPr/>
          <p:nvPr/>
        </p:nvSpPr>
        <p:spPr>
          <a:xfrm>
            <a:off x="640080" y="4206240"/>
            <a:ext cx="2743200" cy="36576"/>
          </a:xfrm>
          <a:prstGeom prst="rect">
            <a:avLst/>
          </a:prstGeom>
          <a:solidFill>
            <a:srgbClr val="87A9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AF8EE"/>
        </a:solidFill>
        <a:effectLst/>
      </p:bgPr>
    </p:bg>
    <p:spTree>
      <p:nvGrpSpPr>
        <p:cNvPr id="1" name=""/>
        <p:cNvGrpSpPr/>
        <p:nvPr/>
      </p:nvGrpSpPr>
      <p:grpSpPr/>
      <p:sp>
        <p:nvSpPr>
          <p:cNvPr id="2" name="Rectangle 1"/>
          <p:cNvSpPr/>
          <p:nvPr/>
        </p:nvSpPr>
        <p:spPr>
          <a:xfrm>
            <a:off x="0" y="0"/>
            <a:ext cx="9144000" cy="54864"/>
          </a:xfrm>
          <a:prstGeom prst="rect">
            <a:avLst/>
          </a:prstGeom>
          <a:solidFill>
            <a:srgbClr val="E07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8229600" cy="731520"/>
          </a:xfrm>
          <a:prstGeom prst="rect">
            <a:avLst/>
          </a:prstGeom>
          <a:noFill/>
        </p:spPr>
        <p:txBody>
          <a:bodyPr wrap="square">
            <a:spAutoFit/>
          </a:bodyPr>
          <a:lstStyle/>
          <a:p>
            <a:pPr>
              <a:defRPr sz="3000" b="1">
                <a:solidFill>
                  <a:srgbClr val="2C2C2C"/>
                </a:solidFill>
                <a:latin typeface="Georgia"/>
              </a:defRPr>
            </a:pPr>
            <a:r>
              <a:t>Agenda</a:t>
            </a:r>
          </a:p>
        </p:txBody>
      </p:sp>
      <p:sp>
        <p:nvSpPr>
          <p:cNvPr id="4" name="Rectangle 3"/>
          <p:cNvSpPr/>
          <p:nvPr/>
        </p:nvSpPr>
        <p:spPr>
          <a:xfrm>
            <a:off x="457200" y="960120"/>
            <a:ext cx="1371600" cy="27432"/>
          </a:xfrm>
          <a:prstGeom prst="rect">
            <a:avLst/>
          </a:prstGeom>
          <a:solidFill>
            <a:srgbClr val="E07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0"/>
            <a:ext cx="8229600" cy="3840480"/>
          </a:xfrm>
          <a:prstGeom prst="rect">
            <a:avLst/>
          </a:prstGeom>
          <a:noFill/>
        </p:spPr>
        <p:txBody>
          <a:bodyPr wrap="square">
            <a:spAutoFit/>
          </a:bodyPr>
          <a:lstStyle/>
          <a:p>
            <a:pPr>
              <a:lnSpc>
                <a:spcPts val="2400"/>
              </a:lnSpc>
              <a:spcAft>
                <a:spcPts val="1000"/>
              </a:spcAft>
              <a:defRPr sz="1800">
                <a:solidFill>
                  <a:srgbClr val="2C2C2C"/>
                </a:solidFill>
                <a:latin typeface="Verdana"/>
              </a:defRPr>
            </a:pPr>
            <a:r>
              <a:t>•  Introduction</a:t>
            </a:r>
          </a:p>
          <a:p>
            <a:pPr>
              <a:lnSpc>
                <a:spcPts val="2400"/>
              </a:lnSpc>
              <a:spcAft>
                <a:spcPts val="1000"/>
              </a:spcAft>
              <a:defRPr sz="1800">
                <a:solidFill>
                  <a:srgbClr val="2C2C2C"/>
                </a:solidFill>
                <a:latin typeface="Verdana"/>
              </a:defRPr>
            </a:pPr>
            <a:r>
              <a:t>•  1. The Transformer Architecture</a:t>
            </a:r>
          </a:p>
          <a:p>
            <a:pPr>
              <a:lnSpc>
                <a:spcPts val="2400"/>
              </a:lnSpc>
              <a:spcAft>
                <a:spcPts val="1000"/>
              </a:spcAft>
              <a:defRPr sz="1800">
                <a:solidFill>
                  <a:srgbClr val="2C2C2C"/>
                </a:solidFill>
                <a:latin typeface="Verdana"/>
              </a:defRPr>
            </a:pPr>
            <a:r>
              <a:t>•  2. The Training Process</a:t>
            </a:r>
          </a:p>
          <a:p>
            <a:pPr>
              <a:lnSpc>
                <a:spcPts val="2400"/>
              </a:lnSpc>
              <a:spcAft>
                <a:spcPts val="1000"/>
              </a:spcAft>
              <a:defRPr sz="1800">
                <a:solidFill>
                  <a:srgbClr val="2C2C2C"/>
                </a:solidFill>
                <a:latin typeface="Verdana"/>
              </a:defRPr>
            </a:pPr>
            <a:r>
              <a:t>•  3. Real-World Applications</a:t>
            </a:r>
          </a:p>
          <a:p>
            <a:pPr>
              <a:lnSpc>
                <a:spcPts val="2400"/>
              </a:lnSpc>
              <a:spcAft>
                <a:spcPts val="1000"/>
              </a:spcAft>
              <a:defRPr sz="1800">
                <a:solidFill>
                  <a:srgbClr val="2C2C2C"/>
                </a:solidFill>
                <a:latin typeface="Verdana"/>
              </a:defRPr>
            </a:pPr>
            <a:r>
              <a:t>•  4. Future Directions and Conclusion</a:t>
            </a:r>
          </a:p>
          <a:p>
            <a:pPr>
              <a:lnSpc>
                <a:spcPts val="2400"/>
              </a:lnSpc>
              <a:spcAft>
                <a:spcPts val="1000"/>
              </a:spcAft>
              <a:defRPr sz="1800">
                <a:solidFill>
                  <a:srgbClr val="2C2C2C"/>
                </a:solidFill>
                <a:latin typeface="Verdana"/>
              </a:defRPr>
            </a:pPr>
            <a:r>
              <a:t>•  Key Takeaways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AF8EE"/>
        </a:solidFill>
        <a:effectLst/>
      </p:bgPr>
    </p:bg>
    <p:spTree>
      <p:nvGrpSpPr>
        <p:cNvPr id="1" name=""/>
        <p:cNvGrpSpPr/>
        <p:nvPr/>
      </p:nvGrpSpPr>
      <p:grpSpPr/>
      <p:sp>
        <p:nvSpPr>
          <p:cNvPr id="2" name="Rectangle 1"/>
          <p:cNvSpPr/>
          <p:nvPr/>
        </p:nvSpPr>
        <p:spPr>
          <a:xfrm>
            <a:off x="0" y="0"/>
            <a:ext cx="9144000" cy="54864"/>
          </a:xfrm>
          <a:prstGeom prst="rect">
            <a:avLst/>
          </a:prstGeom>
          <a:solidFill>
            <a:srgbClr val="E07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
            <a:ext cx="8229600" cy="640080"/>
          </a:xfrm>
          <a:prstGeom prst="rect">
            <a:avLst/>
          </a:prstGeom>
          <a:noFill/>
        </p:spPr>
        <p:txBody>
          <a:bodyPr wrap="none">
            <a:spAutoFit/>
          </a:bodyPr>
          <a:lstStyle/>
          <a:p>
            <a:pPr>
              <a:defRPr sz="2800" b="1">
                <a:solidFill>
                  <a:srgbClr val="2C2C2C"/>
                </a:solidFill>
                <a:latin typeface="Georgia"/>
              </a:defRPr>
            </a:pPr>
            <a:r>
              <a:t>Executive Summary</a:t>
            </a:r>
          </a:p>
        </p:txBody>
      </p:sp>
      <p:sp>
        <p:nvSpPr>
          <p:cNvPr id="4" name="Rectangle 3"/>
          <p:cNvSpPr/>
          <p:nvPr/>
        </p:nvSpPr>
        <p:spPr>
          <a:xfrm>
            <a:off x="457200" y="822960"/>
            <a:ext cx="1645920" cy="27432"/>
          </a:xfrm>
          <a:prstGeom prst="rect">
            <a:avLst/>
          </a:prstGeom>
          <a:solidFill>
            <a:srgbClr val="E07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457200" y="960120"/>
            <a:ext cx="320040" cy="320040"/>
          </a:xfrm>
          <a:prstGeom prst="ellipse">
            <a:avLst/>
          </a:prstGeom>
          <a:solidFill>
            <a:srgbClr val="E07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978408"/>
            <a:ext cx="320040" cy="320040"/>
          </a:xfrm>
          <a:prstGeom prst="rect">
            <a:avLst/>
          </a:prstGeom>
          <a:noFill/>
        </p:spPr>
        <p:txBody>
          <a:bodyPr wrap="none">
            <a:spAutoFit/>
          </a:bodyPr>
          <a:lstStyle/>
          <a:p>
            <a:pPr algn="ctr">
              <a:defRPr sz="1600" b="1">
                <a:solidFill>
                  <a:srgbClr val="F4F1DE"/>
                </a:solidFill>
                <a:latin typeface="Verdana"/>
              </a:defRPr>
            </a:pPr>
            <a:r>
              <a:t>1</a:t>
            </a:r>
          </a:p>
        </p:txBody>
      </p:sp>
      <p:sp>
        <p:nvSpPr>
          <p:cNvPr id="7" name="TextBox 6"/>
          <p:cNvSpPr txBox="1"/>
          <p:nvPr/>
        </p:nvSpPr>
        <p:spPr>
          <a:xfrm>
            <a:off x="914400" y="960120"/>
            <a:ext cx="7863840" cy="548640"/>
          </a:xfrm>
          <a:prstGeom prst="rect">
            <a:avLst/>
          </a:prstGeom>
          <a:noFill/>
        </p:spPr>
        <p:txBody>
          <a:bodyPr wrap="square">
            <a:spAutoFit/>
          </a:bodyPr>
          <a:lstStyle/>
          <a:p>
            <a:pPr>
              <a:defRPr sz="1400">
                <a:solidFill>
                  <a:srgbClr val="2C2C2C"/>
                </a:solidFill>
                <a:latin typeface="Verdana"/>
              </a:defRPr>
            </a:pPr>
            <a:r>
              <a:t>The Transformer architecture enables massive scalability by leveraging parallel processing, allowing organizations to utilize modern hardware for developing significantly more powerful AI capabilities.</a:t>
            </a:r>
          </a:p>
        </p:txBody>
      </p:sp>
      <p:sp>
        <p:nvSpPr>
          <p:cNvPr id="8" name="Oval 7"/>
          <p:cNvSpPr/>
          <p:nvPr/>
        </p:nvSpPr>
        <p:spPr>
          <a:xfrm>
            <a:off x="457200" y="1600200"/>
            <a:ext cx="320040" cy="320040"/>
          </a:xfrm>
          <a:prstGeom prst="ellipse">
            <a:avLst/>
          </a:prstGeom>
          <a:solidFill>
            <a:srgbClr val="E07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1618488"/>
            <a:ext cx="320040" cy="320040"/>
          </a:xfrm>
          <a:prstGeom prst="rect">
            <a:avLst/>
          </a:prstGeom>
          <a:noFill/>
        </p:spPr>
        <p:txBody>
          <a:bodyPr wrap="none">
            <a:spAutoFit/>
          </a:bodyPr>
          <a:lstStyle/>
          <a:p>
            <a:pPr algn="ctr">
              <a:defRPr sz="1600" b="1">
                <a:solidFill>
                  <a:srgbClr val="F4F1DE"/>
                </a:solidFill>
                <a:latin typeface="Verdana"/>
              </a:defRPr>
            </a:pPr>
            <a:r>
              <a:t>2</a:t>
            </a:r>
          </a:p>
        </p:txBody>
      </p:sp>
      <p:sp>
        <p:nvSpPr>
          <p:cNvPr id="10" name="TextBox 9"/>
          <p:cNvSpPr txBox="1"/>
          <p:nvPr/>
        </p:nvSpPr>
        <p:spPr>
          <a:xfrm>
            <a:off x="914400" y="1600200"/>
            <a:ext cx="7863840" cy="548640"/>
          </a:xfrm>
          <a:prstGeom prst="rect">
            <a:avLst/>
          </a:prstGeom>
          <a:noFill/>
        </p:spPr>
        <p:txBody>
          <a:bodyPr wrap="square">
            <a:spAutoFit/>
          </a:bodyPr>
          <a:lstStyle/>
          <a:p>
            <a:pPr>
              <a:defRPr sz="1400">
                <a:solidFill>
                  <a:srgbClr val="2C2C2C"/>
                </a:solidFill>
                <a:latin typeface="Verdana"/>
              </a:defRPr>
            </a:pPr>
            <a:r>
              <a:t>Self-attention mechanisms solve critical context retention issues, enabling models to maintain accuracy across long documents and complex interactions superior to legacy technologies.</a:t>
            </a:r>
          </a:p>
        </p:txBody>
      </p:sp>
      <p:sp>
        <p:nvSpPr>
          <p:cNvPr id="11" name="Oval 10"/>
          <p:cNvSpPr/>
          <p:nvPr/>
        </p:nvSpPr>
        <p:spPr>
          <a:xfrm>
            <a:off x="457200" y="2240280"/>
            <a:ext cx="320040" cy="320040"/>
          </a:xfrm>
          <a:prstGeom prst="ellipse">
            <a:avLst/>
          </a:prstGeom>
          <a:solidFill>
            <a:srgbClr val="E07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2258568"/>
            <a:ext cx="320040" cy="320040"/>
          </a:xfrm>
          <a:prstGeom prst="rect">
            <a:avLst/>
          </a:prstGeom>
          <a:noFill/>
        </p:spPr>
        <p:txBody>
          <a:bodyPr wrap="none">
            <a:spAutoFit/>
          </a:bodyPr>
          <a:lstStyle/>
          <a:p>
            <a:pPr algn="ctr">
              <a:defRPr sz="1600" b="1">
                <a:solidFill>
                  <a:srgbClr val="F4F1DE"/>
                </a:solidFill>
                <a:latin typeface="Verdana"/>
              </a:defRPr>
            </a:pPr>
            <a:r>
              <a:t>3</a:t>
            </a:r>
          </a:p>
        </p:txBody>
      </p:sp>
      <p:sp>
        <p:nvSpPr>
          <p:cNvPr id="13" name="TextBox 12"/>
          <p:cNvSpPr txBox="1"/>
          <p:nvPr/>
        </p:nvSpPr>
        <p:spPr>
          <a:xfrm>
            <a:off x="914400" y="2240280"/>
            <a:ext cx="7863840" cy="548640"/>
          </a:xfrm>
          <a:prstGeom prst="rect">
            <a:avLst/>
          </a:prstGeom>
          <a:noFill/>
        </p:spPr>
        <p:txBody>
          <a:bodyPr wrap="square">
            <a:spAutoFit/>
          </a:bodyPr>
          <a:lstStyle/>
          <a:p>
            <a:pPr>
              <a:defRPr sz="1400">
                <a:solidFill>
                  <a:srgbClr val="2C2C2C"/>
                </a:solidFill>
                <a:latin typeface="Verdana"/>
              </a:defRPr>
            </a:pPr>
            <a:r>
              <a:t>The development lifecycle dictates a strategic split between capital-intensive pre-training for general knowledge and targeted fine-tuning to adapt models for specific, high-value business use cases.</a:t>
            </a:r>
          </a:p>
        </p:txBody>
      </p:sp>
      <p:sp>
        <p:nvSpPr>
          <p:cNvPr id="14" name="Oval 13"/>
          <p:cNvSpPr/>
          <p:nvPr/>
        </p:nvSpPr>
        <p:spPr>
          <a:xfrm>
            <a:off x="457200" y="2880359"/>
            <a:ext cx="320040" cy="320040"/>
          </a:xfrm>
          <a:prstGeom prst="ellipse">
            <a:avLst/>
          </a:prstGeom>
          <a:solidFill>
            <a:srgbClr val="E07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2898647"/>
            <a:ext cx="320040" cy="320040"/>
          </a:xfrm>
          <a:prstGeom prst="rect">
            <a:avLst/>
          </a:prstGeom>
          <a:noFill/>
        </p:spPr>
        <p:txBody>
          <a:bodyPr wrap="none">
            <a:spAutoFit/>
          </a:bodyPr>
          <a:lstStyle/>
          <a:p>
            <a:pPr algn="ctr">
              <a:defRPr sz="1600" b="1">
                <a:solidFill>
                  <a:srgbClr val="F4F1DE"/>
                </a:solidFill>
                <a:latin typeface="Verdana"/>
              </a:defRPr>
            </a:pPr>
            <a:r>
              <a:t>4</a:t>
            </a:r>
          </a:p>
        </p:txBody>
      </p:sp>
      <p:sp>
        <p:nvSpPr>
          <p:cNvPr id="16" name="TextBox 15"/>
          <p:cNvSpPr txBox="1"/>
          <p:nvPr/>
        </p:nvSpPr>
        <p:spPr>
          <a:xfrm>
            <a:off x="914400" y="2880359"/>
            <a:ext cx="7863840" cy="548640"/>
          </a:xfrm>
          <a:prstGeom prst="rect">
            <a:avLst/>
          </a:prstGeom>
          <a:noFill/>
        </p:spPr>
        <p:txBody>
          <a:bodyPr wrap="square">
            <a:spAutoFit/>
          </a:bodyPr>
          <a:lstStyle/>
          <a:p>
            <a:pPr>
              <a:defRPr sz="1400">
                <a:solidFill>
                  <a:srgbClr val="2C2C2C"/>
                </a:solidFill>
                <a:latin typeface="Verdana"/>
              </a:defRPr>
            </a:pPr>
            <a:r>
              <a:t>Reinforcement Learning from Human Feedback (RLHF) serves as the essential safety and alignment layer, transforming raw data predictions into reliable, user-safe tools suitable for enterprise deployment.</a:t>
            </a:r>
          </a:p>
        </p:txBody>
      </p:sp>
      <p:sp>
        <p:nvSpPr>
          <p:cNvPr id="17" name="Oval 16"/>
          <p:cNvSpPr/>
          <p:nvPr/>
        </p:nvSpPr>
        <p:spPr>
          <a:xfrm>
            <a:off x="457200" y="3520439"/>
            <a:ext cx="320040" cy="320040"/>
          </a:xfrm>
          <a:prstGeom prst="ellipse">
            <a:avLst/>
          </a:prstGeom>
          <a:solidFill>
            <a:srgbClr val="E07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 y="3538727"/>
            <a:ext cx="320040" cy="320040"/>
          </a:xfrm>
          <a:prstGeom prst="rect">
            <a:avLst/>
          </a:prstGeom>
          <a:noFill/>
        </p:spPr>
        <p:txBody>
          <a:bodyPr wrap="none">
            <a:spAutoFit/>
          </a:bodyPr>
          <a:lstStyle/>
          <a:p>
            <a:pPr algn="ctr">
              <a:defRPr sz="1600" b="1">
                <a:solidFill>
                  <a:srgbClr val="F4F1DE"/>
                </a:solidFill>
                <a:latin typeface="Verdana"/>
              </a:defRPr>
            </a:pPr>
            <a:r>
              <a:t>5</a:t>
            </a:r>
          </a:p>
        </p:txBody>
      </p:sp>
      <p:sp>
        <p:nvSpPr>
          <p:cNvPr id="19" name="TextBox 18"/>
          <p:cNvSpPr txBox="1"/>
          <p:nvPr/>
        </p:nvSpPr>
        <p:spPr>
          <a:xfrm>
            <a:off x="914400" y="3520439"/>
            <a:ext cx="7863840" cy="548640"/>
          </a:xfrm>
          <a:prstGeom prst="rect">
            <a:avLst/>
          </a:prstGeom>
          <a:noFill/>
        </p:spPr>
        <p:txBody>
          <a:bodyPr wrap="square">
            <a:spAutoFit/>
          </a:bodyPr>
          <a:lstStyle/>
          <a:p>
            <a:pPr>
              <a:defRPr sz="1400">
                <a:solidFill>
                  <a:srgbClr val="2C2C2C"/>
                </a:solidFill>
                <a:latin typeface="Verdana"/>
              </a:defRPr>
            </a:pPr>
            <a:r>
              <a:t>LLMs are driving immediate ROI by fundamentally upgrading operational capacities in customer service automation, software engineering productivity, and content generation workflows.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AF8EE"/>
        </a:solidFill>
        <a:effectLst/>
      </p:bgPr>
    </p:bg>
    <p:spTree>
      <p:nvGrpSpPr>
        <p:cNvPr id="1" name=""/>
        <p:cNvGrpSpPr/>
        <p:nvPr/>
      </p:nvGrpSpPr>
      <p:grpSpPr/>
      <p:sp>
        <p:nvSpPr>
          <p:cNvPr id="2" name="Rectangle 1"/>
          <p:cNvSpPr/>
          <p:nvPr/>
        </p:nvSpPr>
        <p:spPr>
          <a:xfrm>
            <a:off x="0" y="0"/>
            <a:ext cx="9144000" cy="54864"/>
          </a:xfrm>
          <a:prstGeom prst="rect">
            <a:avLst/>
          </a:prstGeom>
          <a:solidFill>
            <a:srgbClr val="E07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8229600" cy="731520"/>
          </a:xfrm>
          <a:prstGeom prst="rect">
            <a:avLst/>
          </a:prstGeom>
          <a:noFill/>
        </p:spPr>
        <p:txBody>
          <a:bodyPr wrap="square">
            <a:spAutoFit/>
          </a:bodyPr>
          <a:lstStyle/>
          <a:p>
            <a:pPr>
              <a:defRPr sz="3000" b="1">
                <a:solidFill>
                  <a:srgbClr val="2C2C2C"/>
                </a:solidFill>
                <a:latin typeface="Georgia"/>
              </a:defRPr>
            </a:pPr>
            <a:r>
              <a:t>Introduction</a:t>
            </a:r>
          </a:p>
        </p:txBody>
      </p:sp>
      <p:sp>
        <p:nvSpPr>
          <p:cNvPr id="4" name="Rectangle 3"/>
          <p:cNvSpPr/>
          <p:nvPr/>
        </p:nvSpPr>
        <p:spPr>
          <a:xfrm>
            <a:off x="457200" y="960120"/>
            <a:ext cx="1371600" cy="27432"/>
          </a:xfrm>
          <a:prstGeom prst="rect">
            <a:avLst/>
          </a:prstGeom>
          <a:solidFill>
            <a:srgbClr val="E07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0"/>
            <a:ext cx="8229600" cy="3840480"/>
          </a:xfrm>
          <a:prstGeom prst="rect">
            <a:avLst/>
          </a:prstGeom>
          <a:noFill/>
        </p:spPr>
        <p:txBody>
          <a:bodyPr wrap="square">
            <a:spAutoFit/>
          </a:bodyPr>
          <a:lstStyle/>
          <a:p>
            <a:pPr>
              <a:lnSpc>
                <a:spcPts val="2400"/>
              </a:lnSpc>
              <a:spcAft>
                <a:spcPts val="1000"/>
              </a:spcAft>
              <a:defRPr sz="1800">
                <a:solidFill>
                  <a:srgbClr val="2C2C2C"/>
                </a:solidFill>
                <a:latin typeface="Verdana"/>
              </a:defRPr>
            </a:pPr>
            <a:r>
              <a:t>•  Revolutionize NLP by transforming machine language understanding paradigms.</a:t>
            </a:r>
          </a:p>
          <a:p>
            <a:pPr>
              <a:lnSpc>
                <a:spcPts val="2400"/>
              </a:lnSpc>
              <a:spcAft>
                <a:spcPts val="1000"/>
              </a:spcAft>
              <a:defRPr sz="1800">
                <a:solidFill>
                  <a:srgbClr val="2C2C2C"/>
                </a:solidFill>
                <a:latin typeface="Verdana"/>
              </a:defRPr>
            </a:pPr>
            <a:r>
              <a:t>•  Power critical applications from chatbots to code generation tools.</a:t>
            </a:r>
          </a:p>
          <a:p>
            <a:pPr>
              <a:lnSpc>
                <a:spcPts val="2400"/>
              </a:lnSpc>
              <a:spcAft>
                <a:spcPts val="1000"/>
              </a:spcAft>
              <a:defRPr sz="1800">
                <a:solidFill>
                  <a:srgbClr val="2C2C2C"/>
                </a:solidFill>
                <a:latin typeface="Verdana"/>
              </a:defRPr>
            </a:pPr>
            <a:r>
              <a:t>•  Leverage Transformer architecture and Attention mechanism for deep context.</a:t>
            </a:r>
          </a:p>
          <a:p>
            <a:pPr>
              <a:lnSpc>
                <a:spcPts val="2400"/>
              </a:lnSpc>
              <a:spcAft>
                <a:spcPts val="1000"/>
              </a:spcAft>
              <a:defRPr sz="1800">
                <a:solidFill>
                  <a:srgbClr val="2C2C2C"/>
                </a:solidFill>
                <a:latin typeface="Verdana"/>
              </a:defRPr>
            </a:pPr>
            <a:r>
              <a:t>•  Employ pre-training and fine-tuning to master specialized tasks.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AF8EE"/>
        </a:solidFill>
        <a:effectLst/>
      </p:bgPr>
    </p:bg>
    <p:spTree>
      <p:nvGrpSpPr>
        <p:cNvPr id="1" name=""/>
        <p:cNvGrpSpPr/>
        <p:nvPr/>
      </p:nvGrpSpPr>
      <p:grpSpPr/>
      <p:sp>
        <p:nvSpPr>
          <p:cNvPr id="2" name="TextBox 1"/>
          <p:cNvSpPr txBox="1"/>
          <p:nvPr/>
        </p:nvSpPr>
        <p:spPr>
          <a:xfrm>
            <a:off x="457200" y="274320"/>
            <a:ext cx="8229600" cy="731520"/>
          </a:xfrm>
          <a:prstGeom prst="rect">
            <a:avLst/>
          </a:prstGeom>
          <a:noFill/>
        </p:spPr>
        <p:txBody>
          <a:bodyPr wrap="none">
            <a:spAutoFit/>
          </a:bodyPr>
          <a:lstStyle/>
          <a:p>
            <a:pPr>
              <a:defRPr sz="2600" b="1">
                <a:solidFill>
                  <a:srgbClr val="2C2C2C"/>
                </a:solidFill>
                <a:latin typeface="Georgia"/>
              </a:defRPr>
            </a:pPr>
            <a:r>
              <a:t>1. The Transformer Architecture</a:t>
            </a:r>
          </a:p>
        </p:txBody>
      </p:sp>
      <p:pic>
        <p:nvPicPr>
          <p:cNvPr id="3" name="Picture 2" descr="section_1_infographic.png"/>
          <p:cNvPicPr>
            <a:picLocks noChangeAspect="1"/>
          </p:cNvPicPr>
          <p:nvPr/>
        </p:nvPicPr>
        <p:blipFill>
          <a:blip r:embed="rId2"/>
          <a:stretch>
            <a:fillRect/>
          </a:stretch>
        </p:blipFill>
        <p:spPr>
          <a:xfrm>
            <a:off x="1371600" y="1371600"/>
            <a:ext cx="6400800" cy="3491345"/>
          </a:xfrm>
          <a:prstGeom prst="rect">
            <a:avLst/>
          </a:prstGeom>
        </p:spPr>
      </p:pic>
      <p:sp>
        <p:nvSpPr>
          <p:cNvPr id="4" name="TextBox 3"/>
          <p:cNvSpPr txBox="1"/>
          <p:nvPr/>
        </p:nvSpPr>
        <p:spPr>
          <a:xfrm>
            <a:off x="457200" y="4572000"/>
            <a:ext cx="8229600" cy="457200"/>
          </a:xfrm>
          <a:prstGeom prst="rect">
            <a:avLst/>
          </a:prstGeom>
          <a:noFill/>
        </p:spPr>
        <p:txBody>
          <a:bodyPr wrap="none">
            <a:spAutoFit/>
          </a:bodyPr>
          <a:lstStyle/>
          <a:p>
            <a:pPr algn="ctr">
              <a:defRPr sz="1400" i="1">
                <a:solidFill>
                  <a:srgbClr val="6B706B"/>
                </a:solidFill>
                <a:latin typeface="Verdana"/>
              </a:defRPr>
            </a:pPr>
            <a:r>
              <a:t>Infographic for 1. The Transformer Architecture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AF8EE"/>
        </a:solidFill>
        <a:effectLst/>
      </p:bgPr>
    </p:bg>
    <p:spTree>
      <p:nvGrpSpPr>
        <p:cNvPr id="1" name=""/>
        <p:cNvGrpSpPr/>
        <p:nvPr/>
      </p:nvGrpSpPr>
      <p:grpSpPr/>
      <p:sp>
        <p:nvSpPr>
          <p:cNvPr id="2" name="Rectangle 1"/>
          <p:cNvSpPr/>
          <p:nvPr/>
        </p:nvSpPr>
        <p:spPr>
          <a:xfrm>
            <a:off x="0" y="0"/>
            <a:ext cx="9144000" cy="54864"/>
          </a:xfrm>
          <a:prstGeom prst="rect">
            <a:avLst/>
          </a:prstGeom>
          <a:solidFill>
            <a:srgbClr val="E07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8229600" cy="731520"/>
          </a:xfrm>
          <a:prstGeom prst="rect">
            <a:avLst/>
          </a:prstGeom>
          <a:noFill/>
        </p:spPr>
        <p:txBody>
          <a:bodyPr wrap="square">
            <a:spAutoFit/>
          </a:bodyPr>
          <a:lstStyle/>
          <a:p>
            <a:pPr>
              <a:defRPr sz="3000" b="1">
                <a:solidFill>
                  <a:srgbClr val="2C2C2C"/>
                </a:solidFill>
                <a:latin typeface="Georgia"/>
              </a:defRPr>
            </a:pPr>
            <a:r>
              <a:t>1. The Transformer Architecture</a:t>
            </a:r>
          </a:p>
        </p:txBody>
      </p:sp>
      <p:sp>
        <p:nvSpPr>
          <p:cNvPr id="4" name="Rectangle 3"/>
          <p:cNvSpPr/>
          <p:nvPr/>
        </p:nvSpPr>
        <p:spPr>
          <a:xfrm>
            <a:off x="457200" y="960120"/>
            <a:ext cx="1371600" cy="27432"/>
          </a:xfrm>
          <a:prstGeom prst="rect">
            <a:avLst/>
          </a:prstGeom>
          <a:solidFill>
            <a:srgbClr val="E07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0"/>
            <a:ext cx="8229600" cy="3840480"/>
          </a:xfrm>
          <a:prstGeom prst="rect">
            <a:avLst/>
          </a:prstGeom>
          <a:noFill/>
        </p:spPr>
        <p:txBody>
          <a:bodyPr wrap="square">
            <a:spAutoFit/>
          </a:bodyPr>
          <a:lstStyle/>
          <a:p>
            <a:pPr>
              <a:lnSpc>
                <a:spcPts val="2400"/>
              </a:lnSpc>
              <a:spcAft>
                <a:spcPts val="1000"/>
              </a:spcAft>
              <a:defRPr sz="1800">
                <a:solidFill>
                  <a:srgbClr val="2C2C2C"/>
                </a:solidFill>
                <a:latin typeface="Verdana"/>
              </a:defRPr>
            </a:pPr>
            <a:r>
              <a:t>•  Replaced inefficient sequential networks with parallel processing capabilities.</a:t>
            </a:r>
          </a:p>
          <a:p>
            <a:pPr>
              <a:lnSpc>
                <a:spcPts val="2400"/>
              </a:lnSpc>
              <a:spcAft>
                <a:spcPts val="1000"/>
              </a:spcAft>
              <a:defRPr sz="1800">
                <a:solidFill>
                  <a:srgbClr val="2C2C2C"/>
                </a:solidFill>
                <a:latin typeface="Verdana"/>
              </a:defRPr>
            </a:pPr>
            <a:r>
              <a:t>•  Utilizes self-attention mechanism to discern context across long sequences.</a:t>
            </a:r>
          </a:p>
          <a:p>
            <a:pPr>
              <a:lnSpc>
                <a:spcPts val="2400"/>
              </a:lnSpc>
              <a:spcAft>
                <a:spcPts val="1000"/>
              </a:spcAft>
              <a:defRPr sz="1800">
                <a:solidFill>
                  <a:srgbClr val="2C2C2C"/>
                </a:solidFill>
                <a:latin typeface="Verdana"/>
              </a:defRPr>
            </a:pPr>
            <a:r>
              <a:t>•  Optimizes computational efficiency by leveraging modern GPU hardware acceleration.</a:t>
            </a:r>
          </a:p>
          <a:p>
            <a:pPr>
              <a:lnSpc>
                <a:spcPts val="2400"/>
              </a:lnSpc>
              <a:spcAft>
                <a:spcPts val="1000"/>
              </a:spcAft>
              <a:defRPr sz="1800">
                <a:solidFill>
                  <a:srgbClr val="2C2C2C"/>
                </a:solidFill>
                <a:latin typeface="Verdana"/>
              </a:defRPr>
            </a:pPr>
            <a:r>
              <a:t>•  Enables training on significantly larger datasets than previous architectures.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AF8EE"/>
        </a:solidFill>
        <a:effectLst/>
      </p:bgPr>
    </p:bg>
    <p:spTree>
      <p:nvGrpSpPr>
        <p:cNvPr id="1" name=""/>
        <p:cNvGrpSpPr/>
        <p:nvPr/>
      </p:nvGrpSpPr>
      <p:grpSpPr/>
      <p:sp>
        <p:nvSpPr>
          <p:cNvPr id="2" name="TextBox 1"/>
          <p:cNvSpPr txBox="1"/>
          <p:nvPr/>
        </p:nvSpPr>
        <p:spPr>
          <a:xfrm>
            <a:off x="457200" y="274320"/>
            <a:ext cx="8229600" cy="731520"/>
          </a:xfrm>
          <a:prstGeom prst="rect">
            <a:avLst/>
          </a:prstGeom>
          <a:noFill/>
        </p:spPr>
        <p:txBody>
          <a:bodyPr wrap="none">
            <a:spAutoFit/>
          </a:bodyPr>
          <a:lstStyle/>
          <a:p>
            <a:pPr>
              <a:defRPr sz="2600" b="1">
                <a:solidFill>
                  <a:srgbClr val="2C2C2C"/>
                </a:solidFill>
                <a:latin typeface="Georgia"/>
              </a:defRPr>
            </a:pPr>
            <a:r>
              <a:t>2. The Training Process</a:t>
            </a:r>
          </a:p>
        </p:txBody>
      </p:sp>
      <p:pic>
        <p:nvPicPr>
          <p:cNvPr id="3" name="Picture 2" descr="section_2_infographic.png"/>
          <p:cNvPicPr>
            <a:picLocks noChangeAspect="1"/>
          </p:cNvPicPr>
          <p:nvPr/>
        </p:nvPicPr>
        <p:blipFill>
          <a:blip r:embed="rId2"/>
          <a:stretch>
            <a:fillRect/>
          </a:stretch>
        </p:blipFill>
        <p:spPr>
          <a:xfrm>
            <a:off x="1371600" y="1371600"/>
            <a:ext cx="6400800" cy="3491345"/>
          </a:xfrm>
          <a:prstGeom prst="rect">
            <a:avLst/>
          </a:prstGeom>
        </p:spPr>
      </p:pic>
      <p:sp>
        <p:nvSpPr>
          <p:cNvPr id="4" name="TextBox 3"/>
          <p:cNvSpPr txBox="1"/>
          <p:nvPr/>
        </p:nvSpPr>
        <p:spPr>
          <a:xfrm>
            <a:off x="457200" y="4572000"/>
            <a:ext cx="8229600" cy="457200"/>
          </a:xfrm>
          <a:prstGeom prst="rect">
            <a:avLst/>
          </a:prstGeom>
          <a:noFill/>
        </p:spPr>
        <p:txBody>
          <a:bodyPr wrap="none">
            <a:spAutoFit/>
          </a:bodyPr>
          <a:lstStyle/>
          <a:p>
            <a:pPr algn="ctr">
              <a:defRPr sz="1400" i="1">
                <a:solidFill>
                  <a:srgbClr val="6B706B"/>
                </a:solidFill>
                <a:latin typeface="Verdana"/>
              </a:defRPr>
            </a:pPr>
            <a:r>
              <a:t>Infographic for 2. The Training Process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AF8EE"/>
        </a:solidFill>
        <a:effectLst/>
      </p:bgPr>
    </p:bg>
    <p:spTree>
      <p:nvGrpSpPr>
        <p:cNvPr id="1" name=""/>
        <p:cNvGrpSpPr/>
        <p:nvPr/>
      </p:nvGrpSpPr>
      <p:grpSpPr/>
      <p:sp>
        <p:nvSpPr>
          <p:cNvPr id="2" name="Rectangle 1"/>
          <p:cNvSpPr/>
          <p:nvPr/>
        </p:nvSpPr>
        <p:spPr>
          <a:xfrm>
            <a:off x="0" y="0"/>
            <a:ext cx="9144000" cy="54864"/>
          </a:xfrm>
          <a:prstGeom prst="rect">
            <a:avLst/>
          </a:prstGeom>
          <a:solidFill>
            <a:srgbClr val="E07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8229600" cy="731520"/>
          </a:xfrm>
          <a:prstGeom prst="rect">
            <a:avLst/>
          </a:prstGeom>
          <a:noFill/>
        </p:spPr>
        <p:txBody>
          <a:bodyPr wrap="square">
            <a:spAutoFit/>
          </a:bodyPr>
          <a:lstStyle/>
          <a:p>
            <a:pPr>
              <a:defRPr sz="3000" b="1">
                <a:solidFill>
                  <a:srgbClr val="2C2C2C"/>
                </a:solidFill>
                <a:latin typeface="Georgia"/>
              </a:defRPr>
            </a:pPr>
            <a:r>
              <a:t>2. The Training Process</a:t>
            </a:r>
          </a:p>
        </p:txBody>
      </p:sp>
      <p:sp>
        <p:nvSpPr>
          <p:cNvPr id="4" name="Rectangle 3"/>
          <p:cNvSpPr/>
          <p:nvPr/>
        </p:nvSpPr>
        <p:spPr>
          <a:xfrm>
            <a:off x="457200" y="960120"/>
            <a:ext cx="1371600" cy="27432"/>
          </a:xfrm>
          <a:prstGeom prst="rect">
            <a:avLst/>
          </a:prstGeom>
          <a:solidFill>
            <a:srgbClr val="E07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0"/>
            <a:ext cx="8229600" cy="3840480"/>
          </a:xfrm>
          <a:prstGeom prst="rect">
            <a:avLst/>
          </a:prstGeom>
          <a:noFill/>
        </p:spPr>
        <p:txBody>
          <a:bodyPr wrap="square">
            <a:spAutoFit/>
          </a:bodyPr>
          <a:lstStyle/>
          <a:p>
            <a:pPr>
              <a:lnSpc>
                <a:spcPts val="2400"/>
              </a:lnSpc>
              <a:spcAft>
                <a:spcPts val="1000"/>
              </a:spcAft>
              <a:defRPr sz="1800">
                <a:solidFill>
                  <a:srgbClr val="2C2C2C"/>
                </a:solidFill>
                <a:latin typeface="Verdana"/>
              </a:defRPr>
            </a:pPr>
            <a:r>
              <a:t>•  Transforms random mathematical weights into coherent, reasoning models.</a:t>
            </a:r>
          </a:p>
          <a:p>
            <a:pPr>
              <a:lnSpc>
                <a:spcPts val="2400"/>
              </a:lnSpc>
              <a:spcAft>
                <a:spcPts val="1000"/>
              </a:spcAft>
              <a:defRPr sz="1800">
                <a:solidFill>
                  <a:srgbClr val="2C2C2C"/>
                </a:solidFill>
                <a:latin typeface="Verdana"/>
              </a:defRPr>
            </a:pPr>
            <a:r>
              <a:t>•  Absorbs general patterns from massive text corpora during pre-training.</a:t>
            </a:r>
          </a:p>
          <a:p>
            <a:pPr>
              <a:lnSpc>
                <a:spcPts val="2400"/>
              </a:lnSpc>
              <a:spcAft>
                <a:spcPts val="1000"/>
              </a:spcAft>
              <a:defRPr sz="1800">
                <a:solidFill>
                  <a:srgbClr val="2C2C2C"/>
                </a:solidFill>
                <a:latin typeface="Verdana"/>
              </a:defRPr>
            </a:pPr>
            <a:r>
              <a:t>•  Utilizes self-supervised next-token prediction to learn linguistic structures.</a:t>
            </a:r>
          </a:p>
          <a:p>
            <a:pPr>
              <a:lnSpc>
                <a:spcPts val="2400"/>
              </a:lnSpc>
              <a:spcAft>
                <a:spcPts val="1000"/>
              </a:spcAft>
              <a:defRPr sz="1800">
                <a:solidFill>
                  <a:srgbClr val="2C2C2C"/>
                </a:solidFill>
                <a:latin typeface="Verdana"/>
              </a:defRPr>
            </a:pPr>
            <a:r>
              <a:t>•  Requires distributed computing to process trillions of data tokens.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AF8EE"/>
        </a:solidFill>
        <a:effectLst/>
      </p:bgPr>
    </p:bg>
    <p:spTree>
      <p:nvGrpSpPr>
        <p:cNvPr id="1" name=""/>
        <p:cNvGrpSpPr/>
        <p:nvPr/>
      </p:nvGrpSpPr>
      <p:grpSpPr/>
      <p:sp>
        <p:nvSpPr>
          <p:cNvPr id="2" name="TextBox 1"/>
          <p:cNvSpPr txBox="1"/>
          <p:nvPr/>
        </p:nvSpPr>
        <p:spPr>
          <a:xfrm>
            <a:off x="457200" y="274320"/>
            <a:ext cx="8229600" cy="731520"/>
          </a:xfrm>
          <a:prstGeom prst="rect">
            <a:avLst/>
          </a:prstGeom>
          <a:noFill/>
        </p:spPr>
        <p:txBody>
          <a:bodyPr wrap="none">
            <a:spAutoFit/>
          </a:bodyPr>
          <a:lstStyle/>
          <a:p>
            <a:pPr>
              <a:defRPr sz="2600" b="1">
                <a:solidFill>
                  <a:srgbClr val="2C2C2C"/>
                </a:solidFill>
                <a:latin typeface="Georgia"/>
              </a:defRPr>
            </a:pPr>
            <a:r>
              <a:t>3. Real-World Applications</a:t>
            </a:r>
          </a:p>
        </p:txBody>
      </p:sp>
      <p:pic>
        <p:nvPicPr>
          <p:cNvPr id="3" name="Picture 2" descr="section_3_infographic.png"/>
          <p:cNvPicPr>
            <a:picLocks noChangeAspect="1"/>
          </p:cNvPicPr>
          <p:nvPr/>
        </p:nvPicPr>
        <p:blipFill>
          <a:blip r:embed="rId2"/>
          <a:stretch>
            <a:fillRect/>
          </a:stretch>
        </p:blipFill>
        <p:spPr>
          <a:xfrm>
            <a:off x="1371600" y="1371600"/>
            <a:ext cx="6400800" cy="3491345"/>
          </a:xfrm>
          <a:prstGeom prst="rect">
            <a:avLst/>
          </a:prstGeom>
        </p:spPr>
      </p:pic>
      <p:sp>
        <p:nvSpPr>
          <p:cNvPr id="4" name="TextBox 3"/>
          <p:cNvSpPr txBox="1"/>
          <p:nvPr/>
        </p:nvSpPr>
        <p:spPr>
          <a:xfrm>
            <a:off x="457200" y="4572000"/>
            <a:ext cx="8229600" cy="457200"/>
          </a:xfrm>
          <a:prstGeom prst="rect">
            <a:avLst/>
          </a:prstGeom>
          <a:noFill/>
        </p:spPr>
        <p:txBody>
          <a:bodyPr wrap="none">
            <a:spAutoFit/>
          </a:bodyPr>
          <a:lstStyle/>
          <a:p>
            <a:pPr algn="ctr">
              <a:defRPr sz="1400" i="1">
                <a:solidFill>
                  <a:srgbClr val="6B706B"/>
                </a:solidFill>
                <a:latin typeface="Verdana"/>
              </a:defRPr>
            </a:pPr>
            <a:r>
              <a:t>Infographic for 3. Real-World Applications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AF8EE"/>
        </a:solidFill>
        <a:effectLst/>
      </p:bgPr>
    </p:bg>
    <p:spTree>
      <p:nvGrpSpPr>
        <p:cNvPr id="1" name=""/>
        <p:cNvGrpSpPr/>
        <p:nvPr/>
      </p:nvGrpSpPr>
      <p:grpSpPr/>
      <p:sp>
        <p:nvSpPr>
          <p:cNvPr id="2" name="Rectangle 1"/>
          <p:cNvSpPr/>
          <p:nvPr/>
        </p:nvSpPr>
        <p:spPr>
          <a:xfrm>
            <a:off x="0" y="0"/>
            <a:ext cx="9144000" cy="54864"/>
          </a:xfrm>
          <a:prstGeom prst="rect">
            <a:avLst/>
          </a:prstGeom>
          <a:solidFill>
            <a:srgbClr val="E07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8229600" cy="731520"/>
          </a:xfrm>
          <a:prstGeom prst="rect">
            <a:avLst/>
          </a:prstGeom>
          <a:noFill/>
        </p:spPr>
        <p:txBody>
          <a:bodyPr wrap="square">
            <a:spAutoFit/>
          </a:bodyPr>
          <a:lstStyle/>
          <a:p>
            <a:pPr>
              <a:defRPr sz="3000" b="1">
                <a:solidFill>
                  <a:srgbClr val="2C2C2C"/>
                </a:solidFill>
                <a:latin typeface="Georgia"/>
              </a:defRPr>
            </a:pPr>
            <a:r>
              <a:t>3. Real-World Applications</a:t>
            </a:r>
          </a:p>
        </p:txBody>
      </p:sp>
      <p:sp>
        <p:nvSpPr>
          <p:cNvPr id="4" name="Rectangle 3"/>
          <p:cNvSpPr/>
          <p:nvPr/>
        </p:nvSpPr>
        <p:spPr>
          <a:xfrm>
            <a:off x="457200" y="960120"/>
            <a:ext cx="1371600" cy="27432"/>
          </a:xfrm>
          <a:prstGeom prst="rect">
            <a:avLst/>
          </a:prstGeom>
          <a:solidFill>
            <a:srgbClr val="E07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0"/>
            <a:ext cx="8229600" cy="3840480"/>
          </a:xfrm>
          <a:prstGeom prst="rect">
            <a:avLst/>
          </a:prstGeom>
          <a:noFill/>
        </p:spPr>
        <p:txBody>
          <a:bodyPr wrap="square">
            <a:spAutoFit/>
          </a:bodyPr>
          <a:lstStyle/>
          <a:p>
            <a:pPr>
              <a:lnSpc>
                <a:spcPts val="2400"/>
              </a:lnSpc>
              <a:spcAft>
                <a:spcPts val="1000"/>
              </a:spcAft>
              <a:defRPr sz="1800">
                <a:solidFill>
                  <a:srgbClr val="2C2C2C"/>
                </a:solidFill>
                <a:latin typeface="Verdana"/>
              </a:defRPr>
            </a:pPr>
            <a:r>
              <a:t>•  Elevates customer service with nuanced, context-aware chatbot interactions.</a:t>
            </a:r>
          </a:p>
          <a:p>
            <a:pPr>
              <a:lnSpc>
                <a:spcPts val="2400"/>
              </a:lnSpc>
              <a:spcAft>
                <a:spcPts val="1000"/>
              </a:spcAft>
              <a:defRPr sz="1800">
                <a:solidFill>
                  <a:srgbClr val="2C2C2C"/>
                </a:solidFill>
                <a:latin typeface="Verdana"/>
              </a:defRPr>
            </a:pPr>
            <a:r>
              <a:t>•  Accelerates development through automated code generation and complex debugging.</a:t>
            </a:r>
          </a:p>
          <a:p>
            <a:pPr>
              <a:lnSpc>
                <a:spcPts val="2400"/>
              </a:lnSpc>
              <a:spcAft>
                <a:spcPts val="1000"/>
              </a:spcAft>
              <a:defRPr sz="1800">
                <a:solidFill>
                  <a:srgbClr val="2C2C2C"/>
                </a:solidFill>
                <a:latin typeface="Verdana"/>
              </a:defRPr>
            </a:pPr>
            <a:r>
              <a:t>•  Streamlines content creation for drafting, editing, and ideation.</a:t>
            </a:r>
          </a:p>
          <a:p>
            <a:pPr>
              <a:lnSpc>
                <a:spcPts val="2400"/>
              </a:lnSpc>
              <a:spcAft>
                <a:spcPts val="1000"/>
              </a:spcAft>
              <a:defRPr sz="1800">
                <a:solidFill>
                  <a:srgbClr val="2C2C2C"/>
                </a:solidFill>
                <a:latin typeface="Verdana"/>
              </a:defRPr>
            </a:pPr>
            <a:r>
              <a:t>•  Enhances scientific research by uncovering correlations in vast literature.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AF8EE"/>
        </a:solidFill>
        <a:effectLst/>
      </p:bgPr>
    </p:bg>
    <p:spTree>
      <p:nvGrpSpPr>
        <p:cNvPr id="1" name=""/>
        <p:cNvGrpSpPr/>
        <p:nvPr/>
      </p:nvGrpSpPr>
      <p:grpSpPr/>
      <p:sp>
        <p:nvSpPr>
          <p:cNvPr id="2" name="TextBox 1"/>
          <p:cNvSpPr txBox="1"/>
          <p:nvPr/>
        </p:nvSpPr>
        <p:spPr>
          <a:xfrm>
            <a:off x="457200" y="274320"/>
            <a:ext cx="8229600" cy="731520"/>
          </a:xfrm>
          <a:prstGeom prst="rect">
            <a:avLst/>
          </a:prstGeom>
          <a:noFill/>
        </p:spPr>
        <p:txBody>
          <a:bodyPr wrap="none">
            <a:spAutoFit/>
          </a:bodyPr>
          <a:lstStyle/>
          <a:p>
            <a:pPr>
              <a:defRPr sz="2600" b="1">
                <a:solidFill>
                  <a:srgbClr val="2C2C2C"/>
                </a:solidFill>
                <a:latin typeface="Georgia"/>
              </a:defRPr>
            </a:pPr>
            <a:r>
              <a:t>4. Future Directions and Conclusion</a:t>
            </a:r>
          </a:p>
        </p:txBody>
      </p:sp>
      <p:pic>
        <p:nvPicPr>
          <p:cNvPr id="3" name="Picture 2" descr="section_4_infographic.png"/>
          <p:cNvPicPr>
            <a:picLocks noChangeAspect="1"/>
          </p:cNvPicPr>
          <p:nvPr/>
        </p:nvPicPr>
        <p:blipFill>
          <a:blip r:embed="rId2"/>
          <a:stretch>
            <a:fillRect/>
          </a:stretch>
        </p:blipFill>
        <p:spPr>
          <a:xfrm>
            <a:off x="1371600" y="1371600"/>
            <a:ext cx="6400800" cy="3491345"/>
          </a:xfrm>
          <a:prstGeom prst="rect">
            <a:avLst/>
          </a:prstGeom>
        </p:spPr>
      </p:pic>
      <p:sp>
        <p:nvSpPr>
          <p:cNvPr id="4" name="TextBox 3"/>
          <p:cNvSpPr txBox="1"/>
          <p:nvPr/>
        </p:nvSpPr>
        <p:spPr>
          <a:xfrm>
            <a:off x="457200" y="4572000"/>
            <a:ext cx="8229600" cy="457200"/>
          </a:xfrm>
          <a:prstGeom prst="rect">
            <a:avLst/>
          </a:prstGeom>
          <a:noFill/>
        </p:spPr>
        <p:txBody>
          <a:bodyPr wrap="none">
            <a:spAutoFit/>
          </a:bodyPr>
          <a:lstStyle/>
          <a:p>
            <a:pPr algn="ctr">
              <a:defRPr sz="1400" i="1">
                <a:solidFill>
                  <a:srgbClr val="6B706B"/>
                </a:solidFill>
                <a:latin typeface="Verdana"/>
              </a:defRPr>
            </a:pPr>
            <a:r>
              <a:t>Infographic for 4. Future Directions and Conclusion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AF8EE"/>
        </a:solidFill>
        <a:effectLst/>
      </p:bgPr>
    </p:bg>
    <p:spTree>
      <p:nvGrpSpPr>
        <p:cNvPr id="1" name=""/>
        <p:cNvGrpSpPr/>
        <p:nvPr/>
      </p:nvGrpSpPr>
      <p:grpSpPr/>
      <p:sp>
        <p:nvSpPr>
          <p:cNvPr id="2" name="Rectangle 1"/>
          <p:cNvSpPr/>
          <p:nvPr/>
        </p:nvSpPr>
        <p:spPr>
          <a:xfrm>
            <a:off x="0" y="0"/>
            <a:ext cx="9144000" cy="54864"/>
          </a:xfrm>
          <a:prstGeom prst="rect">
            <a:avLst/>
          </a:prstGeom>
          <a:solidFill>
            <a:srgbClr val="E07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8229600" cy="731520"/>
          </a:xfrm>
          <a:prstGeom prst="rect">
            <a:avLst/>
          </a:prstGeom>
          <a:noFill/>
        </p:spPr>
        <p:txBody>
          <a:bodyPr wrap="square">
            <a:spAutoFit/>
          </a:bodyPr>
          <a:lstStyle/>
          <a:p>
            <a:pPr>
              <a:defRPr sz="3000" b="1">
                <a:solidFill>
                  <a:srgbClr val="2C2C2C"/>
                </a:solidFill>
                <a:latin typeface="Georgia"/>
              </a:defRPr>
            </a:pPr>
            <a:r>
              <a:t>4. Future Directions and Conclusion</a:t>
            </a:r>
          </a:p>
        </p:txBody>
      </p:sp>
      <p:sp>
        <p:nvSpPr>
          <p:cNvPr id="4" name="Rectangle 3"/>
          <p:cNvSpPr/>
          <p:nvPr/>
        </p:nvSpPr>
        <p:spPr>
          <a:xfrm>
            <a:off x="457200" y="960120"/>
            <a:ext cx="1371600" cy="27432"/>
          </a:xfrm>
          <a:prstGeom prst="rect">
            <a:avLst/>
          </a:prstGeom>
          <a:solidFill>
            <a:srgbClr val="E07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0"/>
            <a:ext cx="8229600" cy="3840480"/>
          </a:xfrm>
          <a:prstGeom prst="rect">
            <a:avLst/>
          </a:prstGeom>
          <a:noFill/>
        </p:spPr>
        <p:txBody>
          <a:bodyPr wrap="square">
            <a:spAutoFit/>
          </a:bodyPr>
          <a:lstStyle/>
          <a:p>
            <a:pPr>
              <a:lnSpc>
                <a:spcPts val="2400"/>
              </a:lnSpc>
              <a:spcAft>
                <a:spcPts val="1000"/>
              </a:spcAft>
              <a:defRPr sz="1800">
                <a:solidFill>
                  <a:srgbClr val="2C2C2C"/>
                </a:solidFill>
                <a:latin typeface="Verdana"/>
              </a:defRPr>
            </a:pPr>
            <a:r>
              <a:t>•  Develops efficient architectures for accessible deployment on consumer hardware.</a:t>
            </a:r>
          </a:p>
          <a:p>
            <a:pPr>
              <a:lnSpc>
                <a:spcPts val="2400"/>
              </a:lnSpc>
              <a:spcAft>
                <a:spcPts val="1000"/>
              </a:spcAft>
              <a:defRPr sz="1800">
                <a:solidFill>
                  <a:srgbClr val="2C2C2C"/>
                </a:solidFill>
                <a:latin typeface="Verdana"/>
              </a:defRPr>
            </a:pPr>
            <a:r>
              <a:t>•  Enhances logical deduction to handle complex, multi-step reasoning tasks.</a:t>
            </a:r>
          </a:p>
          <a:p>
            <a:pPr>
              <a:lnSpc>
                <a:spcPts val="2400"/>
              </a:lnSpc>
              <a:spcAft>
                <a:spcPts val="1000"/>
              </a:spcAft>
              <a:defRPr sz="1800">
                <a:solidFill>
                  <a:srgbClr val="2C2C2C"/>
                </a:solidFill>
                <a:latin typeface="Verdana"/>
              </a:defRPr>
            </a:pPr>
            <a:r>
              <a:t>•  Integrates multimodal processing to analyze text, images, and audio.</a:t>
            </a:r>
          </a:p>
          <a:p>
            <a:pPr>
              <a:lnSpc>
                <a:spcPts val="2400"/>
              </a:lnSpc>
              <a:spcAft>
                <a:spcPts val="1000"/>
              </a:spcAft>
              <a:defRPr sz="1800">
                <a:solidFill>
                  <a:srgbClr val="2C2C2C"/>
                </a:solidFill>
                <a:latin typeface="Verdana"/>
              </a:defRPr>
            </a:pPr>
            <a:r>
              <a:t>•  Mitigates hallucinations to ensure factual reliability and trustworthy outputs.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AF8EE"/>
        </a:solidFill>
        <a:effectLst/>
      </p:bgPr>
    </p:bg>
    <p:spTree>
      <p:nvGrpSpPr>
        <p:cNvPr id="1" name=""/>
        <p:cNvGrpSpPr/>
        <p:nvPr/>
      </p:nvGrpSpPr>
      <p:grpSpPr/>
      <p:sp>
        <p:nvSpPr>
          <p:cNvPr id="2" name="TextBox 1"/>
          <p:cNvSpPr txBox="1"/>
          <p:nvPr/>
        </p:nvSpPr>
        <p:spPr>
          <a:xfrm>
            <a:off x="457200" y="274320"/>
            <a:ext cx="8229600" cy="731520"/>
          </a:xfrm>
          <a:prstGeom prst="rect">
            <a:avLst/>
          </a:prstGeom>
          <a:noFill/>
        </p:spPr>
        <p:txBody>
          <a:bodyPr wrap="none">
            <a:spAutoFit/>
          </a:bodyPr>
          <a:lstStyle/>
          <a:p>
            <a:pPr>
              <a:defRPr sz="2600" b="1">
                <a:solidFill>
                  <a:srgbClr val="2C2C2C"/>
                </a:solidFill>
                <a:latin typeface="Georgia"/>
              </a:defRPr>
            </a:pPr>
            <a:r>
              <a:t>Key Takeaways</a:t>
            </a:r>
          </a:p>
        </p:txBody>
      </p:sp>
      <p:pic>
        <p:nvPicPr>
          <p:cNvPr id="3" name="Picture 2" descr="section_5_infographic.png"/>
          <p:cNvPicPr>
            <a:picLocks noChangeAspect="1"/>
          </p:cNvPicPr>
          <p:nvPr/>
        </p:nvPicPr>
        <p:blipFill>
          <a:blip r:embed="rId2"/>
          <a:stretch>
            <a:fillRect/>
          </a:stretch>
        </p:blipFill>
        <p:spPr>
          <a:xfrm>
            <a:off x="1371600" y="1371600"/>
            <a:ext cx="6400800" cy="3491345"/>
          </a:xfrm>
          <a:prstGeom prst="rect">
            <a:avLst/>
          </a:prstGeom>
        </p:spPr>
      </p:pic>
      <p:sp>
        <p:nvSpPr>
          <p:cNvPr id="4" name="TextBox 3"/>
          <p:cNvSpPr txBox="1"/>
          <p:nvPr/>
        </p:nvSpPr>
        <p:spPr>
          <a:xfrm>
            <a:off x="457200" y="4572000"/>
            <a:ext cx="8229600" cy="457200"/>
          </a:xfrm>
          <a:prstGeom prst="rect">
            <a:avLst/>
          </a:prstGeom>
          <a:noFill/>
        </p:spPr>
        <p:txBody>
          <a:bodyPr wrap="none">
            <a:spAutoFit/>
          </a:bodyPr>
          <a:lstStyle/>
          <a:p>
            <a:pPr algn="ctr">
              <a:defRPr sz="1400" i="1">
                <a:solidFill>
                  <a:srgbClr val="6B706B"/>
                </a:solidFill>
                <a:latin typeface="Verdana"/>
              </a:defRPr>
            </a:pPr>
            <a:r>
              <a:t>Infographic for Key Takeaways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AF8EE"/>
        </a:solidFill>
        <a:effectLst/>
      </p:bgPr>
    </p:bg>
    <p:spTree>
      <p:nvGrpSpPr>
        <p:cNvPr id="1" name=""/>
        <p:cNvGrpSpPr/>
        <p:nvPr/>
      </p:nvGrpSpPr>
      <p:grpSpPr/>
      <p:sp>
        <p:nvSpPr>
          <p:cNvPr id="2" name="Rectangle 1"/>
          <p:cNvSpPr/>
          <p:nvPr/>
        </p:nvSpPr>
        <p:spPr>
          <a:xfrm>
            <a:off x="0" y="0"/>
            <a:ext cx="9144000" cy="54864"/>
          </a:xfrm>
          <a:prstGeom prst="rect">
            <a:avLst/>
          </a:prstGeom>
          <a:solidFill>
            <a:srgbClr val="E07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8229600" cy="731520"/>
          </a:xfrm>
          <a:prstGeom prst="rect">
            <a:avLst/>
          </a:prstGeom>
          <a:noFill/>
        </p:spPr>
        <p:txBody>
          <a:bodyPr wrap="square">
            <a:spAutoFit/>
          </a:bodyPr>
          <a:lstStyle/>
          <a:p>
            <a:pPr>
              <a:defRPr sz="3000" b="1">
                <a:solidFill>
                  <a:srgbClr val="2C2C2C"/>
                </a:solidFill>
                <a:latin typeface="Georgia"/>
              </a:defRPr>
            </a:pPr>
            <a:r>
              <a:t>Key Takeaways</a:t>
            </a:r>
          </a:p>
        </p:txBody>
      </p:sp>
      <p:sp>
        <p:nvSpPr>
          <p:cNvPr id="4" name="Rectangle 3"/>
          <p:cNvSpPr/>
          <p:nvPr/>
        </p:nvSpPr>
        <p:spPr>
          <a:xfrm>
            <a:off x="457200" y="960120"/>
            <a:ext cx="1371600" cy="27432"/>
          </a:xfrm>
          <a:prstGeom prst="rect">
            <a:avLst/>
          </a:prstGeom>
          <a:solidFill>
            <a:srgbClr val="E07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0"/>
            <a:ext cx="8229600" cy="3840480"/>
          </a:xfrm>
          <a:prstGeom prst="rect">
            <a:avLst/>
          </a:prstGeom>
          <a:noFill/>
        </p:spPr>
        <p:txBody>
          <a:bodyPr wrap="square">
            <a:spAutoFit/>
          </a:bodyPr>
          <a:lstStyle/>
          <a:p>
            <a:pPr>
              <a:lnSpc>
                <a:spcPts val="2400"/>
              </a:lnSpc>
              <a:spcAft>
                <a:spcPts val="1000"/>
              </a:spcAft>
              <a:defRPr sz="1800">
                <a:solidFill>
                  <a:srgbClr val="2C2C2C"/>
                </a:solidFill>
                <a:latin typeface="Verdana"/>
              </a:defRPr>
            </a:pPr>
            <a:r>
              <a:t>•  Establish Transformers as the standard for scalable parallel processing.</a:t>
            </a:r>
          </a:p>
          <a:p>
            <a:pPr>
              <a:lnSpc>
                <a:spcPts val="2400"/>
              </a:lnSpc>
              <a:spcAft>
                <a:spcPts val="1000"/>
              </a:spcAft>
              <a:defRPr sz="1800">
                <a:solidFill>
                  <a:srgbClr val="2C2C2C"/>
                </a:solidFill>
                <a:latin typeface="Verdana"/>
              </a:defRPr>
            </a:pPr>
            <a:r>
              <a:t>•  Capture long-range dependencies efficiently using the self-attention mechanism.</a:t>
            </a:r>
          </a:p>
          <a:p>
            <a:pPr>
              <a:lnSpc>
                <a:spcPts val="2400"/>
              </a:lnSpc>
              <a:spcAft>
                <a:spcPts val="1000"/>
              </a:spcAft>
              <a:defRPr sz="1800">
                <a:solidFill>
                  <a:srgbClr val="2C2C2C"/>
                </a:solidFill>
                <a:latin typeface="Verdana"/>
              </a:defRPr>
            </a:pPr>
            <a:r>
              <a:t>•  Combine massive pre-training with fine-tuning for task-specific alignment.</a:t>
            </a:r>
          </a:p>
          <a:p>
            <a:pPr>
              <a:lnSpc>
                <a:spcPts val="2400"/>
              </a:lnSpc>
              <a:spcAft>
                <a:spcPts val="1000"/>
              </a:spcAft>
              <a:defRPr sz="1800">
                <a:solidFill>
                  <a:srgbClr val="2C2C2C"/>
                </a:solidFill>
                <a:latin typeface="Verdana"/>
              </a:defRPr>
            </a:pPr>
            <a:r>
              <a:t>•  Power diverse applications ranging from coding assistants to writing tools.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